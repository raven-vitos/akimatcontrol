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1BE8026-E7BE-4B84-AB70-EEFD71F748D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4FE40CB-D915-4765-A3B5-CE0152B55CE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2B303ED-C7D3-4C68-B351-3B0EB75614F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1BD7DED7-AB36-4019-8AB5-83DE53BDD74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7313F4A7-936C-4CCB-9633-54BD084E47E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71F25317-D499-4463-88F4-73D4F1EE492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53B5ECF8-8764-4D37-A27B-B4A7D7570B4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47F1A8D9-1581-4D88-9F54-53019B3F493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F137F10A-A7F5-4671-B311-FA1BD367398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CAB81217-89A7-4E60-8724-29E8B50BC9D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D5D987A2-A33E-465E-8D70-8CAB3350B52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2FA1604-AD6E-4970-BE8E-E63C725B8E3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382C0B1-0397-448E-ABD9-26A702A8556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04A8CC6-BB06-4D37-A157-85F3454A616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BEF2F8F-F053-4D7D-909A-30DF009AE90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57126F1-2922-4E91-9A81-61B9D4F4F0C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ED18548-183B-4E83-823D-4D3B89C58FE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0A6FB29-C8E5-4EA8-9E7D-5FD414B22A1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66805EB-4EBB-4474-AF97-D07C8E65B4E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FF8C79D-B636-4D9D-8849-D3B8605E11E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F8639BF-26DD-4AC5-A3B2-D9F0534B98B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ED5799B-1CD8-44FC-A790-060B17E345A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3"/>
          <p:cNvSpPr/>
          <p:nvPr/>
        </p:nvSpPr>
        <p:spPr>
          <a:xfrm>
            <a:off x="731520" y="1874520"/>
            <a:ext cx="10056960" cy="74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1" lang="en-US" sz="4300" spc="-1" strike="noStrike">
                <a:solidFill>
                  <a:srgbClr val="252936"/>
                </a:solidFill>
                <a:latin typeface="Aptos"/>
              </a:rPr>
              <a:t>Akimat Control</a:t>
            </a:r>
            <a:endParaRPr b="0" lang="en-US" sz="4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Box 4"/>
          <p:cNvSpPr/>
          <p:nvPr/>
        </p:nvSpPr>
        <p:spPr>
          <a:xfrm>
            <a:off x="731520" y="2779920"/>
            <a:ext cx="9691200" cy="8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0" lang="en-US" sz="2500" spc="-1" strike="noStrike">
                <a:solidFill>
                  <a:srgbClr val="687388"/>
                </a:solidFill>
                <a:latin typeface="Aptos"/>
              </a:rPr>
              <a:t>Интеллектуальная система контроля исполнения поручений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Rounded Rectangle 5"/>
          <p:cNvSpPr/>
          <p:nvPr/>
        </p:nvSpPr>
        <p:spPr>
          <a:xfrm>
            <a:off x="731520" y="4187880"/>
            <a:ext cx="4387680" cy="601920"/>
          </a:xfrm>
          <a:prstGeom prst="roundRect">
            <a:avLst>
              <a:gd name="adj" fmla="val 16667"/>
            </a:avLst>
          </a:prstGeom>
          <a:solidFill>
            <a:srgbClr val="edeb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3" name="TextBox 6"/>
          <p:cNvSpPr/>
          <p:nvPr/>
        </p:nvSpPr>
        <p:spPr>
          <a:xfrm>
            <a:off x="941760" y="4352400"/>
            <a:ext cx="40219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1" lang="en-US" sz="1600" spc="-1" strike="noStrike">
                <a:solidFill>
                  <a:srgbClr val="796de3"/>
                </a:solidFill>
                <a:latin typeface="Aptos"/>
              </a:rPr>
              <a:t>GovTech  /  Цифровизация  /  AI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Box 7"/>
          <p:cNvSpPr/>
          <p:nvPr/>
        </p:nvSpPr>
        <p:spPr>
          <a:xfrm>
            <a:off x="731520" y="6199560"/>
            <a:ext cx="91425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0" lang="en-US" sz="1400" spc="-1" strike="noStrike">
                <a:solidFill>
                  <a:srgbClr val="687388"/>
                </a:solidFill>
                <a:latin typeface="Aptos"/>
                <a:ea typeface="Noto Sans"/>
              </a:rPr>
              <a:t>Демонстрационный MVP  •  Конкурс стартап-проектов </a:t>
            </a:r>
            <a:r>
              <a:rPr b="0" lang="en-US" sz="1400" spc="-1" strike="noStrike">
                <a:solidFill>
                  <a:srgbClr val="687388"/>
                </a:solidFill>
                <a:latin typeface="Aptos"/>
              </a:rPr>
              <a:t>• Бега В.Б.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5" name="" descr=""/>
          <p:cNvPicPr/>
          <p:nvPr/>
        </p:nvPicPr>
        <p:blipFill>
          <a:blip r:embed="rId1"/>
          <a:stretch/>
        </p:blipFill>
        <p:spPr>
          <a:xfrm>
            <a:off x="813960" y="355320"/>
            <a:ext cx="1243440" cy="1244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ounded Rectangle 1"/>
          <p:cNvSpPr/>
          <p:nvPr/>
        </p:nvSpPr>
        <p:spPr>
          <a:xfrm>
            <a:off x="502920" y="393120"/>
            <a:ext cx="108360" cy="474120"/>
          </a:xfrm>
          <a:prstGeom prst="roundRect">
            <a:avLst>
              <a:gd name="adj" fmla="val 16667"/>
            </a:avLst>
          </a:prstGeom>
          <a:solidFill>
            <a:srgbClr val="796de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7" name="TextBox 2"/>
          <p:cNvSpPr/>
          <p:nvPr/>
        </p:nvSpPr>
        <p:spPr>
          <a:xfrm>
            <a:off x="777240" y="384120"/>
            <a:ext cx="1005696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1" lang="en-US" sz="2900" spc="-1" strike="noStrike">
                <a:solidFill>
                  <a:srgbClr val="252936"/>
                </a:solidFill>
                <a:latin typeface="Aptos"/>
              </a:rPr>
              <a:t>Проблема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Box 3"/>
          <p:cNvSpPr/>
          <p:nvPr/>
        </p:nvSpPr>
        <p:spPr>
          <a:xfrm>
            <a:off x="777240" y="960120"/>
            <a:ext cx="100569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0" lang="en-US" sz="1400" spc="-1" strike="noStrike">
                <a:solidFill>
                  <a:srgbClr val="687388"/>
                </a:solidFill>
                <a:latin typeface="Aptos"/>
              </a:rPr>
              <a:t>Поручения проходят через подразделения, а контроль сроков требует ручной работы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Box 4"/>
          <p:cNvSpPr/>
          <p:nvPr/>
        </p:nvSpPr>
        <p:spPr>
          <a:xfrm>
            <a:off x="640080" y="6492240"/>
            <a:ext cx="54849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0" lang="en-US" sz="1000" spc="-1" strike="noStrike">
                <a:solidFill>
                  <a:srgbClr val="687388"/>
                </a:solidFill>
                <a:latin typeface="Aptos"/>
              </a:rPr>
              <a:t>AKIMAT CONTROL   •   MVP 2026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Box 5"/>
          <p:cNvSpPr/>
          <p:nvPr/>
        </p:nvSpPr>
        <p:spPr>
          <a:xfrm>
            <a:off x="11155680" y="6492240"/>
            <a:ext cx="4557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0" lang="en-US" sz="1000" spc="-1" strike="noStrike">
                <a:solidFill>
                  <a:srgbClr val="687388"/>
                </a:solidFill>
                <a:latin typeface="Aptos"/>
              </a:rPr>
              <a:t>02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Rounded Rectangle 6"/>
          <p:cNvSpPr/>
          <p:nvPr/>
        </p:nvSpPr>
        <p:spPr>
          <a:xfrm>
            <a:off x="731520" y="1673280"/>
            <a:ext cx="3427560" cy="3381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2" name="Rounded Rectangle 7"/>
          <p:cNvSpPr/>
          <p:nvPr/>
        </p:nvSpPr>
        <p:spPr>
          <a:xfrm>
            <a:off x="932760" y="1901880"/>
            <a:ext cx="71640" cy="410040"/>
          </a:xfrm>
          <a:prstGeom prst="roundRect">
            <a:avLst>
              <a:gd name="adj" fmla="val 16667"/>
            </a:avLst>
          </a:prstGeom>
          <a:solidFill>
            <a:srgbClr val="796de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3" name="TextBox 8"/>
          <p:cNvSpPr/>
          <p:nvPr/>
        </p:nvSpPr>
        <p:spPr>
          <a:xfrm>
            <a:off x="1170360" y="1874520"/>
            <a:ext cx="278748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1" lang="en-US" sz="1900" spc="-1" strike="noStrike">
                <a:solidFill>
                  <a:srgbClr val="252936"/>
                </a:solidFill>
                <a:latin typeface="Aptos"/>
              </a:rPr>
              <a:t>Разрозненность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Box 9"/>
          <p:cNvSpPr/>
          <p:nvPr/>
        </p:nvSpPr>
        <p:spPr>
          <a:xfrm>
            <a:off x="1024200" y="2514600"/>
            <a:ext cx="286056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0" lang="en-US" sz="1500" spc="-1" strike="noStrike">
                <a:solidFill>
                  <a:srgbClr val="687388"/>
                </a:solidFill>
                <a:latin typeface="Aptos"/>
              </a:rPr>
              <a:t>Информация об исполнении находится у разных сотрудников и подразделений.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Rounded Rectangle 10"/>
          <p:cNvSpPr/>
          <p:nvPr/>
        </p:nvSpPr>
        <p:spPr>
          <a:xfrm>
            <a:off x="4389120" y="1673280"/>
            <a:ext cx="3427560" cy="3381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6" name="Rounded Rectangle 11"/>
          <p:cNvSpPr/>
          <p:nvPr/>
        </p:nvSpPr>
        <p:spPr>
          <a:xfrm>
            <a:off x="4590360" y="1901880"/>
            <a:ext cx="71640" cy="410040"/>
          </a:xfrm>
          <a:prstGeom prst="roundRect">
            <a:avLst>
              <a:gd name="adj" fmla="val 16667"/>
            </a:avLst>
          </a:prstGeom>
          <a:solidFill>
            <a:srgbClr val="6488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7" name="TextBox 12"/>
          <p:cNvSpPr/>
          <p:nvPr/>
        </p:nvSpPr>
        <p:spPr>
          <a:xfrm>
            <a:off x="4827960" y="1874520"/>
            <a:ext cx="278748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1" lang="en-US" sz="1900" spc="-1" strike="noStrike">
                <a:solidFill>
                  <a:srgbClr val="252936"/>
                </a:solidFill>
                <a:latin typeface="Aptos"/>
              </a:rPr>
              <a:t>Ручной контроль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Box 13"/>
          <p:cNvSpPr/>
          <p:nvPr/>
        </p:nvSpPr>
        <p:spPr>
          <a:xfrm>
            <a:off x="4681800" y="2514600"/>
            <a:ext cx="2860560" cy="77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0" lang="en-US" sz="1500" spc="-1" strike="noStrike">
                <a:solidFill>
                  <a:srgbClr val="687388"/>
                </a:solidFill>
                <a:latin typeface="Aptos"/>
              </a:rPr>
              <a:t>Сроки, изменения статусов и ответственные отслеживаются вручную.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Rounded Rectangle 14"/>
          <p:cNvSpPr/>
          <p:nvPr/>
        </p:nvSpPr>
        <p:spPr>
          <a:xfrm>
            <a:off x="8046720" y="1673280"/>
            <a:ext cx="3427560" cy="3381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" name="Rounded Rectangle 15"/>
          <p:cNvSpPr/>
          <p:nvPr/>
        </p:nvSpPr>
        <p:spPr>
          <a:xfrm>
            <a:off x="8247960" y="1901880"/>
            <a:ext cx="71640" cy="410040"/>
          </a:xfrm>
          <a:prstGeom prst="roundRect">
            <a:avLst>
              <a:gd name="adj" fmla="val 16667"/>
            </a:avLst>
          </a:prstGeom>
          <a:solidFill>
            <a:srgbClr val="b06da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" name="TextBox 16"/>
          <p:cNvSpPr/>
          <p:nvPr/>
        </p:nvSpPr>
        <p:spPr>
          <a:xfrm>
            <a:off x="8485560" y="1874520"/>
            <a:ext cx="278748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1" lang="en-US" sz="1900" spc="-1" strike="noStrike">
                <a:solidFill>
                  <a:srgbClr val="252936"/>
                </a:solidFill>
                <a:latin typeface="Aptos"/>
              </a:rPr>
              <a:t>Поздняя реакция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Box 17"/>
          <p:cNvSpPr/>
          <p:nvPr/>
        </p:nvSpPr>
        <p:spPr>
          <a:xfrm>
            <a:off x="8339400" y="2514600"/>
            <a:ext cx="286056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0" lang="en-US" sz="1500" spc="-1" strike="noStrike">
                <a:solidFill>
                  <a:srgbClr val="687388"/>
                </a:solidFill>
                <a:latin typeface="Aptos"/>
              </a:rPr>
              <a:t>Просроченные поручения могут требовать вмешательства уже после нарушения срока.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Rounded Rectangle 18"/>
          <p:cNvSpPr/>
          <p:nvPr/>
        </p:nvSpPr>
        <p:spPr>
          <a:xfrm>
            <a:off x="731520" y="5321880"/>
            <a:ext cx="10742760" cy="638640"/>
          </a:xfrm>
          <a:prstGeom prst="roundRect">
            <a:avLst>
              <a:gd name="adj" fmla="val 16667"/>
            </a:avLst>
          </a:prstGeom>
          <a:solidFill>
            <a:srgbClr val="edeb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1" lang="en-US" sz="1800" spc="-1" strike="noStrike">
                <a:solidFill>
                  <a:srgbClr val="796de3"/>
                </a:solidFill>
                <a:latin typeface="Aptos"/>
              </a:rPr>
              <a:t>Ключевой вопрос: что поручено, кому, на какой стадии и где требуется вмешательство?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Box 19"/>
          <p:cNvSpPr/>
          <p:nvPr/>
        </p:nvSpPr>
        <p:spPr>
          <a:xfrm>
            <a:off x="823320" y="5468040"/>
            <a:ext cx="10148400" cy="63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ounded Rectangle 1"/>
          <p:cNvSpPr/>
          <p:nvPr/>
        </p:nvSpPr>
        <p:spPr>
          <a:xfrm>
            <a:off x="502920" y="393120"/>
            <a:ext cx="108360" cy="474120"/>
          </a:xfrm>
          <a:prstGeom prst="roundRect">
            <a:avLst>
              <a:gd name="adj" fmla="val 16667"/>
            </a:avLst>
          </a:prstGeom>
          <a:solidFill>
            <a:srgbClr val="796de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" name="TextBox 2"/>
          <p:cNvSpPr/>
          <p:nvPr/>
        </p:nvSpPr>
        <p:spPr>
          <a:xfrm>
            <a:off x="777240" y="384120"/>
            <a:ext cx="1005696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1" lang="en-US" sz="2900" spc="-1" strike="noStrike">
                <a:solidFill>
                  <a:srgbClr val="252936"/>
                </a:solidFill>
                <a:latin typeface="Aptos"/>
              </a:rPr>
              <a:t>Решение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Box 3"/>
          <p:cNvSpPr/>
          <p:nvPr/>
        </p:nvSpPr>
        <p:spPr>
          <a:xfrm>
            <a:off x="777240" y="960120"/>
            <a:ext cx="100569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0" lang="en-US" sz="1400" spc="-1" strike="noStrike">
                <a:solidFill>
                  <a:srgbClr val="687388"/>
                </a:solidFill>
                <a:latin typeface="Aptos"/>
              </a:rPr>
              <a:t>Единый маршрут поручения — от постановки задачи до контроля результата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Box 4"/>
          <p:cNvSpPr/>
          <p:nvPr/>
        </p:nvSpPr>
        <p:spPr>
          <a:xfrm>
            <a:off x="640080" y="6492240"/>
            <a:ext cx="54849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0" lang="en-US" sz="1000" spc="-1" strike="noStrike">
                <a:solidFill>
                  <a:srgbClr val="687388"/>
                </a:solidFill>
                <a:latin typeface="Aptos"/>
              </a:rPr>
              <a:t>AKIMAT CONTROL   •   MVP 2026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Box 5"/>
          <p:cNvSpPr/>
          <p:nvPr/>
        </p:nvSpPr>
        <p:spPr>
          <a:xfrm>
            <a:off x="11155680" y="6492240"/>
            <a:ext cx="4557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0" lang="en-US" sz="1000" spc="-1" strike="noStrike">
                <a:solidFill>
                  <a:srgbClr val="687388"/>
                </a:solidFill>
                <a:latin typeface="Aptos"/>
              </a:rPr>
              <a:t>03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Rounded Rectangle 6"/>
          <p:cNvSpPr/>
          <p:nvPr/>
        </p:nvSpPr>
        <p:spPr>
          <a:xfrm>
            <a:off x="731520" y="2057400"/>
            <a:ext cx="1991880" cy="146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" name="TextBox 7"/>
          <p:cNvSpPr/>
          <p:nvPr/>
        </p:nvSpPr>
        <p:spPr>
          <a:xfrm>
            <a:off x="951120" y="2267640"/>
            <a:ext cx="6386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1" lang="en-US" sz="2200" spc="-1" strike="noStrike">
                <a:solidFill>
                  <a:srgbClr val="796de3"/>
                </a:solidFill>
                <a:latin typeface="Aptos"/>
              </a:rPr>
              <a:t>01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Box 8"/>
          <p:cNvSpPr/>
          <p:nvPr/>
        </p:nvSpPr>
        <p:spPr>
          <a:xfrm>
            <a:off x="951120" y="2834640"/>
            <a:ext cx="16902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1" lang="en-US" sz="1600" spc="-1" strike="noStrike">
                <a:solidFill>
                  <a:srgbClr val="252936"/>
                </a:solidFill>
                <a:latin typeface="Aptos"/>
              </a:rPr>
              <a:t>Создание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Rounded Rectangle 9"/>
          <p:cNvSpPr/>
          <p:nvPr/>
        </p:nvSpPr>
        <p:spPr>
          <a:xfrm>
            <a:off x="3017520" y="2057400"/>
            <a:ext cx="1991880" cy="146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" name="TextBox 10"/>
          <p:cNvSpPr/>
          <p:nvPr/>
        </p:nvSpPr>
        <p:spPr>
          <a:xfrm>
            <a:off x="3237120" y="2267640"/>
            <a:ext cx="6386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1" lang="en-US" sz="2200" spc="-1" strike="noStrike">
                <a:solidFill>
                  <a:srgbClr val="796de3"/>
                </a:solidFill>
                <a:latin typeface="Aptos"/>
              </a:rPr>
              <a:t>02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Box 11"/>
          <p:cNvSpPr/>
          <p:nvPr/>
        </p:nvSpPr>
        <p:spPr>
          <a:xfrm>
            <a:off x="3237120" y="2834640"/>
            <a:ext cx="16902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1" lang="en-US" sz="1600" spc="-1" strike="noStrike">
                <a:solidFill>
                  <a:srgbClr val="252936"/>
                </a:solidFill>
                <a:latin typeface="Aptos"/>
              </a:rPr>
              <a:t>Назначение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Rounded Rectangle 12"/>
          <p:cNvSpPr/>
          <p:nvPr/>
        </p:nvSpPr>
        <p:spPr>
          <a:xfrm>
            <a:off x="5303520" y="2057400"/>
            <a:ext cx="1991880" cy="146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7" name="TextBox 13"/>
          <p:cNvSpPr/>
          <p:nvPr/>
        </p:nvSpPr>
        <p:spPr>
          <a:xfrm>
            <a:off x="5523120" y="2267640"/>
            <a:ext cx="6386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1" lang="en-US" sz="2200" spc="-1" strike="noStrike">
                <a:solidFill>
                  <a:srgbClr val="796de3"/>
                </a:solidFill>
                <a:latin typeface="Aptos"/>
              </a:rPr>
              <a:t>03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Box 14"/>
          <p:cNvSpPr/>
          <p:nvPr/>
        </p:nvSpPr>
        <p:spPr>
          <a:xfrm>
            <a:off x="5523120" y="2834640"/>
            <a:ext cx="16902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1" lang="en-US" sz="1600" spc="-1" strike="noStrike">
                <a:solidFill>
                  <a:srgbClr val="252936"/>
                </a:solidFill>
                <a:latin typeface="Aptos"/>
              </a:rPr>
              <a:t>Исполнение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Rounded Rectangle 15"/>
          <p:cNvSpPr/>
          <p:nvPr/>
        </p:nvSpPr>
        <p:spPr>
          <a:xfrm>
            <a:off x="7589520" y="2057400"/>
            <a:ext cx="1991880" cy="146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0" name="TextBox 16"/>
          <p:cNvSpPr/>
          <p:nvPr/>
        </p:nvSpPr>
        <p:spPr>
          <a:xfrm>
            <a:off x="7809120" y="2267640"/>
            <a:ext cx="6386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1" lang="en-US" sz="2200" spc="-1" strike="noStrike">
                <a:solidFill>
                  <a:srgbClr val="796de3"/>
                </a:solidFill>
                <a:latin typeface="Aptos"/>
              </a:rPr>
              <a:t>04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Box 17"/>
          <p:cNvSpPr/>
          <p:nvPr/>
        </p:nvSpPr>
        <p:spPr>
          <a:xfrm>
            <a:off x="7809120" y="2834640"/>
            <a:ext cx="16902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1" lang="en-US" sz="1600" spc="-1" strike="noStrike">
                <a:solidFill>
                  <a:srgbClr val="252936"/>
                </a:solidFill>
                <a:latin typeface="Aptos"/>
              </a:rPr>
              <a:t>Проверка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Rounded Rectangle 18"/>
          <p:cNvSpPr/>
          <p:nvPr/>
        </p:nvSpPr>
        <p:spPr>
          <a:xfrm>
            <a:off x="9875520" y="2057400"/>
            <a:ext cx="1991880" cy="146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3" name="TextBox 19"/>
          <p:cNvSpPr/>
          <p:nvPr/>
        </p:nvSpPr>
        <p:spPr>
          <a:xfrm>
            <a:off x="10095120" y="2267640"/>
            <a:ext cx="6386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1" lang="en-US" sz="2200" spc="-1" strike="noStrike">
                <a:solidFill>
                  <a:srgbClr val="796de3"/>
                </a:solidFill>
                <a:latin typeface="Aptos"/>
              </a:rPr>
              <a:t>05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Box 20"/>
          <p:cNvSpPr/>
          <p:nvPr/>
        </p:nvSpPr>
        <p:spPr>
          <a:xfrm>
            <a:off x="10095120" y="2834640"/>
            <a:ext cx="16902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1" lang="en-US" sz="1600" spc="-1" strike="noStrike">
                <a:solidFill>
                  <a:srgbClr val="252936"/>
                </a:solidFill>
                <a:latin typeface="Aptos"/>
              </a:rPr>
              <a:t>Завершение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Rounded Rectangle 21"/>
          <p:cNvSpPr/>
          <p:nvPr/>
        </p:nvSpPr>
        <p:spPr>
          <a:xfrm>
            <a:off x="1371600" y="4251960"/>
            <a:ext cx="9416880" cy="958680"/>
          </a:xfrm>
          <a:prstGeom prst="roundRect">
            <a:avLst>
              <a:gd name="adj" fmla="val 16667"/>
            </a:avLst>
          </a:prstGeom>
          <a:solidFill>
            <a:srgbClr val="edeb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1" lang="en-US" sz="2100" spc="-1" strike="noStrike">
                <a:solidFill>
                  <a:srgbClr val="796de3"/>
                </a:solidFill>
                <a:latin typeface="Aptos"/>
              </a:rPr>
              <a:t>Контроль срока  →  предупреждение  →  эскалация при просрочке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Box 22"/>
          <p:cNvSpPr/>
          <p:nvPr/>
        </p:nvSpPr>
        <p:spPr>
          <a:xfrm>
            <a:off x="1664280" y="4517280"/>
            <a:ext cx="895968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ounded Rectangle 1"/>
          <p:cNvSpPr/>
          <p:nvPr/>
        </p:nvSpPr>
        <p:spPr>
          <a:xfrm>
            <a:off x="502920" y="393120"/>
            <a:ext cx="108360" cy="474120"/>
          </a:xfrm>
          <a:prstGeom prst="roundRect">
            <a:avLst>
              <a:gd name="adj" fmla="val 16667"/>
            </a:avLst>
          </a:prstGeom>
          <a:solidFill>
            <a:srgbClr val="796de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" name="TextBox 2"/>
          <p:cNvSpPr/>
          <p:nvPr/>
        </p:nvSpPr>
        <p:spPr>
          <a:xfrm>
            <a:off x="777240" y="384120"/>
            <a:ext cx="1005696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1" lang="en-US" sz="2900" spc="-1" strike="noStrike">
                <a:solidFill>
                  <a:srgbClr val="252936"/>
                </a:solidFill>
                <a:latin typeface="Aptos"/>
              </a:rPr>
              <a:t>Что уже работает в MVP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Box 3"/>
          <p:cNvSpPr/>
          <p:nvPr/>
        </p:nvSpPr>
        <p:spPr>
          <a:xfrm>
            <a:off x="777240" y="960120"/>
            <a:ext cx="100569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0" lang="en-US" sz="1400" spc="-1" strike="noStrike">
                <a:solidFill>
                  <a:srgbClr val="687388"/>
                </a:solidFill>
                <a:latin typeface="Aptos"/>
              </a:rPr>
              <a:t>Сквозной сценарий доступен в действующем веб-приложении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Box 4"/>
          <p:cNvSpPr/>
          <p:nvPr/>
        </p:nvSpPr>
        <p:spPr>
          <a:xfrm>
            <a:off x="640080" y="6492240"/>
            <a:ext cx="54849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0" lang="en-US" sz="1000" spc="-1" strike="noStrike">
                <a:solidFill>
                  <a:srgbClr val="687388"/>
                </a:solidFill>
                <a:latin typeface="Aptos"/>
              </a:rPr>
              <a:t>AKIMAT CONTROL   •   MVP 2026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Box 5"/>
          <p:cNvSpPr/>
          <p:nvPr/>
        </p:nvSpPr>
        <p:spPr>
          <a:xfrm>
            <a:off x="11155680" y="6492240"/>
            <a:ext cx="4557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0" lang="en-US" sz="1000" spc="-1" strike="noStrike">
                <a:solidFill>
                  <a:srgbClr val="687388"/>
                </a:solidFill>
                <a:latin typeface="Aptos"/>
              </a:rPr>
              <a:t>04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Rounded Rectangle 6"/>
          <p:cNvSpPr/>
          <p:nvPr/>
        </p:nvSpPr>
        <p:spPr>
          <a:xfrm>
            <a:off x="731520" y="1600200"/>
            <a:ext cx="6582240" cy="4250520"/>
          </a:xfrm>
          <a:prstGeom prst="roundRect">
            <a:avLst>
              <a:gd name="adj" fmla="val 16667"/>
            </a:avLst>
          </a:prstGeom>
          <a:solidFill>
            <a:srgbClr val="eceffa"/>
          </a:solidFill>
          <a:ln cap="rnd">
            <a:solidFill>
              <a:srgbClr val="d3d9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" name="TextBox 7"/>
          <p:cNvSpPr/>
          <p:nvPr/>
        </p:nvSpPr>
        <p:spPr>
          <a:xfrm>
            <a:off x="1097280" y="3378600"/>
            <a:ext cx="5850720" cy="3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Rounded Rectangle 9"/>
          <p:cNvSpPr/>
          <p:nvPr/>
        </p:nvSpPr>
        <p:spPr>
          <a:xfrm>
            <a:off x="7543800" y="1572840"/>
            <a:ext cx="3839040" cy="931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5" name="TextBox 10"/>
          <p:cNvSpPr/>
          <p:nvPr/>
        </p:nvSpPr>
        <p:spPr>
          <a:xfrm>
            <a:off x="7772400" y="1682640"/>
            <a:ext cx="3381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1" lang="en-US" sz="1700" spc="-1" strike="noStrike">
                <a:solidFill>
                  <a:srgbClr val="252936"/>
                </a:solidFill>
                <a:latin typeface="Aptos"/>
              </a:rPr>
              <a:t>Дашборд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Box 11"/>
          <p:cNvSpPr/>
          <p:nvPr/>
        </p:nvSpPr>
        <p:spPr>
          <a:xfrm>
            <a:off x="7772400" y="2030040"/>
            <a:ext cx="3381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0" lang="en-US" sz="1200" spc="-1" strike="noStrike">
                <a:solidFill>
                  <a:srgbClr val="687388"/>
                </a:solidFill>
                <a:latin typeface="Aptos"/>
              </a:rPr>
              <a:t>Сводка и задачи, требующие внимания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Rounded Rectangle 12"/>
          <p:cNvSpPr/>
          <p:nvPr/>
        </p:nvSpPr>
        <p:spPr>
          <a:xfrm>
            <a:off x="7543800" y="2633400"/>
            <a:ext cx="3839040" cy="931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" name="TextBox 13"/>
          <p:cNvSpPr/>
          <p:nvPr/>
        </p:nvSpPr>
        <p:spPr>
          <a:xfrm>
            <a:off x="7772400" y="2743200"/>
            <a:ext cx="3381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1" lang="en-US" sz="1700" spc="-1" strike="noStrike">
                <a:solidFill>
                  <a:srgbClr val="252936"/>
                </a:solidFill>
                <a:latin typeface="Aptos"/>
              </a:rPr>
              <a:t>Поручения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Box 14"/>
          <p:cNvSpPr/>
          <p:nvPr/>
        </p:nvSpPr>
        <p:spPr>
          <a:xfrm>
            <a:off x="7772400" y="3090600"/>
            <a:ext cx="3381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0" lang="en-US" sz="1200" spc="-1" strike="noStrike">
                <a:solidFill>
                  <a:srgbClr val="687388"/>
                </a:solidFill>
                <a:latin typeface="Aptos"/>
              </a:rPr>
              <a:t>Статусы, фильтры, переназначение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Rounded Rectangle 15"/>
          <p:cNvSpPr/>
          <p:nvPr/>
        </p:nvSpPr>
        <p:spPr>
          <a:xfrm>
            <a:off x="7543800" y="3694320"/>
            <a:ext cx="3839040" cy="931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1" name="TextBox 16"/>
          <p:cNvSpPr/>
          <p:nvPr/>
        </p:nvSpPr>
        <p:spPr>
          <a:xfrm>
            <a:off x="7772400" y="3803760"/>
            <a:ext cx="3381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1" lang="en-US" sz="1700" spc="-1" strike="noStrike">
                <a:solidFill>
                  <a:srgbClr val="252936"/>
                </a:solidFill>
                <a:latin typeface="Aptos"/>
              </a:rPr>
              <a:t>Контроль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Box 17"/>
          <p:cNvSpPr/>
          <p:nvPr/>
        </p:nvSpPr>
        <p:spPr>
          <a:xfrm>
            <a:off x="7772400" y="4151520"/>
            <a:ext cx="3381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0" lang="en-US" sz="1200" spc="-1" strike="noStrike">
                <a:solidFill>
                  <a:srgbClr val="687388"/>
                </a:solidFill>
                <a:latin typeface="Aptos"/>
              </a:rPr>
              <a:t>История, просрочка и эскалация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Rounded Rectangle 18"/>
          <p:cNvSpPr/>
          <p:nvPr/>
        </p:nvSpPr>
        <p:spPr>
          <a:xfrm>
            <a:off x="7543800" y="4754880"/>
            <a:ext cx="3839040" cy="931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4" name="TextBox 19"/>
          <p:cNvSpPr/>
          <p:nvPr/>
        </p:nvSpPr>
        <p:spPr>
          <a:xfrm>
            <a:off x="7772400" y="4864680"/>
            <a:ext cx="3381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1" lang="en-US" sz="1700" spc="-1" strike="noStrike">
                <a:solidFill>
                  <a:srgbClr val="252936"/>
                </a:solidFill>
                <a:latin typeface="Aptos"/>
              </a:rPr>
              <a:t>Доступ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Box 20"/>
          <p:cNvSpPr/>
          <p:nvPr/>
        </p:nvSpPr>
        <p:spPr>
          <a:xfrm>
            <a:off x="7772400" y="5212080"/>
            <a:ext cx="3381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0" lang="en-US" sz="1200" spc="-1" strike="noStrike">
                <a:solidFill>
                  <a:srgbClr val="687388"/>
                </a:solidFill>
                <a:latin typeface="Aptos"/>
              </a:rPr>
              <a:t>Регистрация и авторизация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6" name="" descr=""/>
          <p:cNvPicPr/>
          <p:nvPr/>
        </p:nvPicPr>
        <p:blipFill>
          <a:blip r:embed="rId1"/>
          <a:stretch/>
        </p:blipFill>
        <p:spPr>
          <a:xfrm>
            <a:off x="914400" y="2180160"/>
            <a:ext cx="6171480" cy="3089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ounded Rectangle 1"/>
          <p:cNvSpPr/>
          <p:nvPr/>
        </p:nvSpPr>
        <p:spPr>
          <a:xfrm>
            <a:off x="502920" y="393120"/>
            <a:ext cx="108360" cy="474120"/>
          </a:xfrm>
          <a:prstGeom prst="roundRect">
            <a:avLst>
              <a:gd name="adj" fmla="val 16667"/>
            </a:avLst>
          </a:prstGeom>
          <a:solidFill>
            <a:srgbClr val="796de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8" name="TextBox 2"/>
          <p:cNvSpPr/>
          <p:nvPr/>
        </p:nvSpPr>
        <p:spPr>
          <a:xfrm>
            <a:off x="777240" y="384120"/>
            <a:ext cx="1005696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1" lang="en-US" sz="2900" spc="-1" strike="noStrike">
                <a:solidFill>
                  <a:srgbClr val="252936"/>
                </a:solidFill>
                <a:latin typeface="Aptos"/>
              </a:rPr>
              <a:t>AI-помощник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Box 3"/>
          <p:cNvSpPr/>
          <p:nvPr/>
        </p:nvSpPr>
        <p:spPr>
          <a:xfrm>
            <a:off x="777240" y="960120"/>
            <a:ext cx="100569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0" lang="en-US" sz="1400" spc="-1" strike="noStrike">
                <a:solidFill>
                  <a:srgbClr val="687388"/>
                </a:solidFill>
                <a:latin typeface="Aptos"/>
              </a:rPr>
              <a:t>Из свободного текста — в проверяемый черновик поручения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Box 4"/>
          <p:cNvSpPr/>
          <p:nvPr/>
        </p:nvSpPr>
        <p:spPr>
          <a:xfrm>
            <a:off x="640080" y="6492240"/>
            <a:ext cx="54849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0" lang="en-US" sz="1000" spc="-1" strike="noStrike">
                <a:solidFill>
                  <a:srgbClr val="687388"/>
                </a:solidFill>
                <a:latin typeface="Aptos"/>
              </a:rPr>
              <a:t>AKIMAT CONTROL   •   MVP 2026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Box 5"/>
          <p:cNvSpPr/>
          <p:nvPr/>
        </p:nvSpPr>
        <p:spPr>
          <a:xfrm>
            <a:off x="11155680" y="6492240"/>
            <a:ext cx="4557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0" lang="en-US" sz="1000" spc="-1" strike="noStrike">
                <a:solidFill>
                  <a:srgbClr val="687388"/>
                </a:solidFill>
                <a:latin typeface="Aptos"/>
              </a:rPr>
              <a:t>05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Rounded Rectangle 6"/>
          <p:cNvSpPr/>
          <p:nvPr/>
        </p:nvSpPr>
        <p:spPr>
          <a:xfrm>
            <a:off x="731520" y="1609200"/>
            <a:ext cx="5073480" cy="123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3" name="TextBox 7"/>
          <p:cNvSpPr/>
          <p:nvPr/>
        </p:nvSpPr>
        <p:spPr>
          <a:xfrm>
            <a:off x="960120" y="1828800"/>
            <a:ext cx="4616280" cy="95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0" lang="en-US" sz="1900" spc="-1" strike="noStrike">
                <a:solidFill>
                  <a:srgbClr val="252936"/>
                </a:solidFill>
                <a:latin typeface="Aptos"/>
              </a:rPr>
              <a:t>«До 20 октября восстановить освещение возле школы №17 на улице Абая»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Rounded Rectangle 8"/>
          <p:cNvSpPr/>
          <p:nvPr/>
        </p:nvSpPr>
        <p:spPr>
          <a:xfrm>
            <a:off x="731520" y="3154680"/>
            <a:ext cx="5073480" cy="1598760"/>
          </a:xfrm>
          <a:prstGeom prst="roundRect">
            <a:avLst>
              <a:gd name="adj" fmla="val 16667"/>
            </a:avLst>
          </a:prstGeom>
          <a:solidFill>
            <a:srgbClr val="edeb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5" name="TextBox 9"/>
          <p:cNvSpPr/>
          <p:nvPr/>
        </p:nvSpPr>
        <p:spPr>
          <a:xfrm>
            <a:off x="969120" y="3420000"/>
            <a:ext cx="452484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1" lang="en-US" sz="2100" spc="-1" strike="noStrike">
                <a:solidFill>
                  <a:srgbClr val="796de3"/>
                </a:solidFill>
                <a:latin typeface="Aptos"/>
              </a:rPr>
              <a:t>Claude API / резервный разбор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Box 10"/>
          <p:cNvSpPr/>
          <p:nvPr/>
        </p:nvSpPr>
        <p:spPr>
          <a:xfrm>
            <a:off x="969120" y="3895200"/>
            <a:ext cx="45248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0" lang="en-US" sz="1500" spc="-1" strike="noStrike">
                <a:solidFill>
                  <a:srgbClr val="687388"/>
                </a:solidFill>
                <a:latin typeface="Aptos"/>
              </a:rPr>
              <a:t>Выделение названия, описания, срока, приоритета и подразделения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Rounded Rectangle 11"/>
          <p:cNvSpPr/>
          <p:nvPr/>
        </p:nvSpPr>
        <p:spPr>
          <a:xfrm>
            <a:off x="6080760" y="1609200"/>
            <a:ext cx="5347800" cy="4268880"/>
          </a:xfrm>
          <a:prstGeom prst="roundRect">
            <a:avLst>
              <a:gd name="adj" fmla="val 16667"/>
            </a:avLst>
          </a:prstGeom>
          <a:solidFill>
            <a:srgbClr val="eceffa"/>
          </a:solidFill>
          <a:ln>
            <a:solidFill>
              <a:srgbClr val="d3d9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8" name="TextBox 12"/>
          <p:cNvSpPr/>
          <p:nvPr/>
        </p:nvSpPr>
        <p:spPr>
          <a:xfrm>
            <a:off x="6446520" y="3396960"/>
            <a:ext cx="4616280" cy="3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Box 13"/>
          <p:cNvSpPr/>
          <p:nvPr/>
        </p:nvSpPr>
        <p:spPr>
          <a:xfrm>
            <a:off x="6446520" y="3817800"/>
            <a:ext cx="4616280" cy="2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Box 14"/>
          <p:cNvSpPr/>
          <p:nvPr/>
        </p:nvSpPr>
        <p:spPr>
          <a:xfrm>
            <a:off x="777240" y="5303520"/>
            <a:ext cx="10788480" cy="74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1" lang="en-US" sz="1700" spc="-1" strike="noStrike">
                <a:solidFill>
                  <a:srgbClr val="796de3"/>
                </a:solidFill>
                <a:latin typeface="Aptos"/>
              </a:rPr>
              <a:t>AI не сохраняет данные автоматически!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1" lang="en-US" sz="1700" spc="-1" strike="noStrike">
                <a:solidFill>
                  <a:srgbClr val="796de3"/>
                </a:solidFill>
                <a:latin typeface="Aptos"/>
              </a:rPr>
              <a:t>Решение подтверждает пользователь!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1" name="" descr=""/>
          <p:cNvPicPr/>
          <p:nvPr/>
        </p:nvPicPr>
        <p:blipFill>
          <a:blip r:embed="rId1"/>
          <a:stretch/>
        </p:blipFill>
        <p:spPr>
          <a:xfrm>
            <a:off x="6539760" y="1937160"/>
            <a:ext cx="4396320" cy="3656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ounded Rectangle 1"/>
          <p:cNvSpPr/>
          <p:nvPr/>
        </p:nvSpPr>
        <p:spPr>
          <a:xfrm>
            <a:off x="502920" y="393120"/>
            <a:ext cx="108360" cy="474120"/>
          </a:xfrm>
          <a:prstGeom prst="roundRect">
            <a:avLst>
              <a:gd name="adj" fmla="val 16667"/>
            </a:avLst>
          </a:prstGeom>
          <a:solidFill>
            <a:srgbClr val="796de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3" name="TextBox 2"/>
          <p:cNvSpPr/>
          <p:nvPr/>
        </p:nvSpPr>
        <p:spPr>
          <a:xfrm>
            <a:off x="777240" y="384120"/>
            <a:ext cx="1005696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1" lang="en-US" sz="2900" spc="-1" strike="noStrike">
                <a:solidFill>
                  <a:srgbClr val="252936"/>
                </a:solidFill>
                <a:latin typeface="Aptos"/>
              </a:rPr>
              <a:t>Технологии и архитектура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Box 3"/>
          <p:cNvSpPr/>
          <p:nvPr/>
        </p:nvSpPr>
        <p:spPr>
          <a:xfrm>
            <a:off x="777240" y="960120"/>
            <a:ext cx="100569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0" lang="en-US" sz="1400" spc="-1" strike="noStrike">
                <a:solidFill>
                  <a:srgbClr val="687388"/>
                </a:solidFill>
                <a:latin typeface="Aptos"/>
              </a:rPr>
              <a:t>Единое fullstack-приложение без отдельного сервера базы данных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Box 4"/>
          <p:cNvSpPr/>
          <p:nvPr/>
        </p:nvSpPr>
        <p:spPr>
          <a:xfrm>
            <a:off x="640080" y="6492240"/>
            <a:ext cx="54849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0" lang="en-US" sz="1000" spc="-1" strike="noStrike">
                <a:solidFill>
                  <a:srgbClr val="687388"/>
                </a:solidFill>
                <a:latin typeface="Aptos"/>
              </a:rPr>
              <a:t>AKIMAT CONTROL   •   MVP 2026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Box 5"/>
          <p:cNvSpPr/>
          <p:nvPr/>
        </p:nvSpPr>
        <p:spPr>
          <a:xfrm>
            <a:off x="11155680" y="6492240"/>
            <a:ext cx="4557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0" lang="en-US" sz="1000" spc="-1" strike="noStrike">
                <a:solidFill>
                  <a:srgbClr val="687388"/>
                </a:solidFill>
                <a:latin typeface="Aptos"/>
              </a:rPr>
              <a:t>06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Rounded Rectangle 6"/>
          <p:cNvSpPr/>
          <p:nvPr/>
        </p:nvSpPr>
        <p:spPr>
          <a:xfrm>
            <a:off x="777240" y="1737360"/>
            <a:ext cx="3400200" cy="3107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8" name="Rounded Rectangle 7"/>
          <p:cNvSpPr/>
          <p:nvPr/>
        </p:nvSpPr>
        <p:spPr>
          <a:xfrm>
            <a:off x="978480" y="1965960"/>
            <a:ext cx="71640" cy="410040"/>
          </a:xfrm>
          <a:prstGeom prst="roundRect">
            <a:avLst>
              <a:gd name="adj" fmla="val 16667"/>
            </a:avLst>
          </a:prstGeom>
          <a:solidFill>
            <a:srgbClr val="796de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9" name="TextBox 8"/>
          <p:cNvSpPr/>
          <p:nvPr/>
        </p:nvSpPr>
        <p:spPr>
          <a:xfrm>
            <a:off x="1216080" y="1938600"/>
            <a:ext cx="276012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1" lang="en-US" sz="1900" spc="-1" strike="noStrike">
                <a:solidFill>
                  <a:srgbClr val="252936"/>
                </a:solidFill>
                <a:latin typeface="Aptos"/>
              </a:rPr>
              <a:t>Интерфейс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Box 9"/>
          <p:cNvSpPr/>
          <p:nvPr/>
        </p:nvSpPr>
        <p:spPr>
          <a:xfrm>
            <a:off x="1069920" y="2578680"/>
            <a:ext cx="2833200" cy="68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0" lang="en-US" sz="1500" spc="-1" strike="noStrike">
                <a:solidFill>
                  <a:srgbClr val="687388"/>
                </a:solidFill>
                <a:latin typeface="Aptos"/>
              </a:rPr>
              <a:t>Nuxt 4 · Vue 3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0" lang="en-US" sz="1500" spc="-1" strike="noStrike">
                <a:solidFill>
                  <a:srgbClr val="687388"/>
                </a:solidFill>
                <a:latin typeface="Aptos"/>
              </a:rPr>
              <a:t>TypeScript · Tailwind CSS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Rounded Rectangle 10"/>
          <p:cNvSpPr/>
          <p:nvPr/>
        </p:nvSpPr>
        <p:spPr>
          <a:xfrm>
            <a:off x="4407480" y="1737360"/>
            <a:ext cx="3400200" cy="3107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2" name="Rounded Rectangle 11"/>
          <p:cNvSpPr/>
          <p:nvPr/>
        </p:nvSpPr>
        <p:spPr>
          <a:xfrm>
            <a:off x="4608720" y="1965960"/>
            <a:ext cx="71640" cy="410040"/>
          </a:xfrm>
          <a:prstGeom prst="roundRect">
            <a:avLst>
              <a:gd name="adj" fmla="val 16667"/>
            </a:avLst>
          </a:prstGeom>
          <a:solidFill>
            <a:srgbClr val="6488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3" name="TextBox 12"/>
          <p:cNvSpPr/>
          <p:nvPr/>
        </p:nvSpPr>
        <p:spPr>
          <a:xfrm>
            <a:off x="4846320" y="1938600"/>
            <a:ext cx="276012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1" lang="en-US" sz="1900" spc="-1" strike="noStrike">
                <a:solidFill>
                  <a:srgbClr val="252936"/>
                </a:solidFill>
                <a:latin typeface="Aptos"/>
              </a:rPr>
              <a:t>Сервер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Box 13"/>
          <p:cNvSpPr/>
          <p:nvPr/>
        </p:nvSpPr>
        <p:spPr>
          <a:xfrm>
            <a:off x="4700160" y="2578680"/>
            <a:ext cx="2833200" cy="68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0" lang="en-US" sz="1500" spc="-1" strike="noStrike">
                <a:solidFill>
                  <a:srgbClr val="687388"/>
                </a:solidFill>
                <a:latin typeface="Aptos"/>
              </a:rPr>
              <a:t>Nuxt Server API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0" lang="en-US" sz="1500" spc="-1" strike="noStrike">
                <a:solidFill>
                  <a:srgbClr val="687388"/>
                </a:solidFill>
                <a:latin typeface="Aptos"/>
              </a:rPr>
              <a:t>Бизнес-логика и сессии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Rounded Rectangle 14"/>
          <p:cNvSpPr/>
          <p:nvPr/>
        </p:nvSpPr>
        <p:spPr>
          <a:xfrm>
            <a:off x="8037720" y="1737360"/>
            <a:ext cx="3400200" cy="3107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6" name="Rounded Rectangle 15"/>
          <p:cNvSpPr/>
          <p:nvPr/>
        </p:nvSpPr>
        <p:spPr>
          <a:xfrm>
            <a:off x="8238600" y="1965960"/>
            <a:ext cx="71640" cy="410040"/>
          </a:xfrm>
          <a:prstGeom prst="roundRect">
            <a:avLst>
              <a:gd name="adj" fmla="val 16667"/>
            </a:avLst>
          </a:prstGeom>
          <a:solidFill>
            <a:srgbClr val="b06da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7" name="TextBox 16"/>
          <p:cNvSpPr/>
          <p:nvPr/>
        </p:nvSpPr>
        <p:spPr>
          <a:xfrm>
            <a:off x="8476560" y="1938600"/>
            <a:ext cx="276012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1" lang="en-US" sz="1900" spc="-1" strike="noStrike">
                <a:solidFill>
                  <a:srgbClr val="252936"/>
                </a:solidFill>
                <a:latin typeface="Aptos"/>
              </a:rPr>
              <a:t>Данные и AI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Box 17"/>
          <p:cNvSpPr/>
          <p:nvPr/>
        </p:nvSpPr>
        <p:spPr>
          <a:xfrm>
            <a:off x="8330040" y="2578680"/>
            <a:ext cx="2833200" cy="68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0" lang="en-US" sz="1500" spc="-1" strike="noStrike">
                <a:solidFill>
                  <a:srgbClr val="687388"/>
                </a:solidFill>
                <a:latin typeface="Aptos"/>
              </a:rPr>
              <a:t>Prisma 7 · SQLite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0" lang="en-US" sz="1500" spc="-1" strike="noStrike">
                <a:solidFill>
                  <a:srgbClr val="687388"/>
                </a:solidFill>
                <a:latin typeface="Aptos"/>
              </a:rPr>
              <a:t>Claude API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Rounded Rectangle 18"/>
          <p:cNvSpPr/>
          <p:nvPr/>
        </p:nvSpPr>
        <p:spPr>
          <a:xfrm>
            <a:off x="1097280" y="5230440"/>
            <a:ext cx="9965520" cy="684360"/>
          </a:xfrm>
          <a:prstGeom prst="roundRect">
            <a:avLst>
              <a:gd name="adj" fmla="val 16667"/>
            </a:avLst>
          </a:prstGeom>
          <a:solidFill>
            <a:srgbClr val="edeb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0" name="TextBox 19"/>
          <p:cNvSpPr/>
          <p:nvPr/>
        </p:nvSpPr>
        <p:spPr>
          <a:xfrm>
            <a:off x="1408320" y="5413320"/>
            <a:ext cx="93254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1" lang="en-US" sz="1800" spc="-1" strike="noStrike">
                <a:solidFill>
                  <a:srgbClr val="796de3"/>
                </a:solidFill>
                <a:latin typeface="Aptos"/>
              </a:rPr>
              <a:t>SQLite упрощает перенос MVP и запуск без отдельной СУБД.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ounded Rectangle 1"/>
          <p:cNvSpPr/>
          <p:nvPr/>
        </p:nvSpPr>
        <p:spPr>
          <a:xfrm>
            <a:off x="502920" y="393120"/>
            <a:ext cx="108360" cy="474120"/>
          </a:xfrm>
          <a:prstGeom prst="roundRect">
            <a:avLst>
              <a:gd name="adj" fmla="val 16667"/>
            </a:avLst>
          </a:prstGeom>
          <a:solidFill>
            <a:srgbClr val="796de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2" name="TextBox 2"/>
          <p:cNvSpPr/>
          <p:nvPr/>
        </p:nvSpPr>
        <p:spPr>
          <a:xfrm>
            <a:off x="777240" y="384120"/>
            <a:ext cx="1005696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1" lang="en-US" sz="2900" spc="-1" strike="noStrike">
                <a:solidFill>
                  <a:srgbClr val="252936"/>
                </a:solidFill>
                <a:latin typeface="Aptos"/>
              </a:rPr>
              <a:t>Для кого и зачем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Box 3"/>
          <p:cNvSpPr/>
          <p:nvPr/>
        </p:nvSpPr>
        <p:spPr>
          <a:xfrm>
            <a:off x="777240" y="960120"/>
            <a:ext cx="100569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0" lang="en-US" sz="1400" spc="-1" strike="noStrike">
                <a:solidFill>
                  <a:srgbClr val="687388"/>
                </a:solidFill>
                <a:latin typeface="Aptos"/>
              </a:rPr>
              <a:t>Ценность продукта — прозрачность и своевременное реагирование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Box 4"/>
          <p:cNvSpPr/>
          <p:nvPr/>
        </p:nvSpPr>
        <p:spPr>
          <a:xfrm>
            <a:off x="640080" y="6492240"/>
            <a:ext cx="54849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0" lang="en-US" sz="1000" spc="-1" strike="noStrike">
                <a:solidFill>
                  <a:srgbClr val="687388"/>
                </a:solidFill>
                <a:latin typeface="Aptos"/>
              </a:rPr>
              <a:t>AKIMAT CONTROL   •   MVP 2026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Box 5"/>
          <p:cNvSpPr/>
          <p:nvPr/>
        </p:nvSpPr>
        <p:spPr>
          <a:xfrm>
            <a:off x="11155680" y="6492240"/>
            <a:ext cx="4557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0" lang="en-US" sz="1000" spc="-1" strike="noStrike">
                <a:solidFill>
                  <a:srgbClr val="687388"/>
                </a:solidFill>
                <a:latin typeface="Aptos"/>
              </a:rPr>
              <a:t>07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Rounded Rectangle 6"/>
          <p:cNvSpPr/>
          <p:nvPr/>
        </p:nvSpPr>
        <p:spPr>
          <a:xfrm>
            <a:off x="731520" y="1627560"/>
            <a:ext cx="5119200" cy="3400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7" name="Rounded Rectangle 7"/>
          <p:cNvSpPr/>
          <p:nvPr/>
        </p:nvSpPr>
        <p:spPr>
          <a:xfrm>
            <a:off x="932760" y="1856160"/>
            <a:ext cx="71640" cy="410040"/>
          </a:xfrm>
          <a:prstGeom prst="roundRect">
            <a:avLst>
              <a:gd name="adj" fmla="val 16667"/>
            </a:avLst>
          </a:prstGeom>
          <a:solidFill>
            <a:srgbClr val="796de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8" name="TextBox 8"/>
          <p:cNvSpPr/>
          <p:nvPr/>
        </p:nvSpPr>
        <p:spPr>
          <a:xfrm>
            <a:off x="1170360" y="1828800"/>
            <a:ext cx="447912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1" lang="en-US" sz="1900" spc="-1" strike="noStrike">
                <a:solidFill>
                  <a:srgbClr val="252936"/>
                </a:solidFill>
                <a:latin typeface="Aptos"/>
              </a:rPr>
              <a:t>Пользователи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Box 9"/>
          <p:cNvSpPr/>
          <p:nvPr/>
        </p:nvSpPr>
        <p:spPr>
          <a:xfrm>
            <a:off x="1024200" y="2468880"/>
            <a:ext cx="4552200" cy="77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0" lang="en-US" sz="1500" spc="-1" strike="noStrike">
                <a:solidFill>
                  <a:srgbClr val="687388"/>
                </a:solidFill>
                <a:latin typeface="Aptos"/>
              </a:rPr>
              <a:t>Аппарат акимата, руководители подразделений, специалисты по контролю и исполнители.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Rounded Rectangle 10"/>
          <p:cNvSpPr/>
          <p:nvPr/>
        </p:nvSpPr>
        <p:spPr>
          <a:xfrm>
            <a:off x="6089760" y="1627560"/>
            <a:ext cx="5356800" cy="3400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1" name="Rounded Rectangle 11"/>
          <p:cNvSpPr/>
          <p:nvPr/>
        </p:nvSpPr>
        <p:spPr>
          <a:xfrm>
            <a:off x="6291000" y="1856160"/>
            <a:ext cx="71640" cy="410040"/>
          </a:xfrm>
          <a:prstGeom prst="roundRect">
            <a:avLst>
              <a:gd name="adj" fmla="val 16667"/>
            </a:avLst>
          </a:prstGeom>
          <a:solidFill>
            <a:srgbClr val="6488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2" name="TextBox 12"/>
          <p:cNvSpPr/>
          <p:nvPr/>
        </p:nvSpPr>
        <p:spPr>
          <a:xfrm>
            <a:off x="6528960" y="1828800"/>
            <a:ext cx="471672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1" lang="en-US" sz="1900" spc="-1" strike="noStrike">
                <a:solidFill>
                  <a:srgbClr val="252936"/>
                </a:solidFill>
                <a:latin typeface="Aptos"/>
              </a:rPr>
              <a:t>Ожидаемый эффект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Box 13"/>
          <p:cNvSpPr/>
          <p:nvPr/>
        </p:nvSpPr>
        <p:spPr>
          <a:xfrm>
            <a:off x="6382440" y="2468880"/>
            <a:ext cx="4790160" cy="77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0" lang="en-US" sz="1500" spc="-1" strike="noStrike">
                <a:solidFill>
                  <a:srgbClr val="687388"/>
                </a:solidFill>
                <a:latin typeface="Aptos"/>
              </a:rPr>
              <a:t>Меньше ручного поиска информации; понятная история исполнения; более раннее выявление просрочек.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Box 14"/>
          <p:cNvSpPr/>
          <p:nvPr/>
        </p:nvSpPr>
        <p:spPr>
          <a:xfrm>
            <a:off x="914400" y="5367600"/>
            <a:ext cx="1042272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1" lang="en-US" sz="1900" spc="-1" strike="noStrike">
                <a:solidFill>
                  <a:srgbClr val="796de3"/>
                </a:solidFill>
                <a:latin typeface="Aptos"/>
              </a:rPr>
              <a:t>Основной KPI пилота: доля поручений, исполненных в установленный срок.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Rounded Rectangle 1"/>
          <p:cNvSpPr/>
          <p:nvPr/>
        </p:nvSpPr>
        <p:spPr>
          <a:xfrm>
            <a:off x="502920" y="393120"/>
            <a:ext cx="108360" cy="474120"/>
          </a:xfrm>
          <a:prstGeom prst="roundRect">
            <a:avLst>
              <a:gd name="adj" fmla="val 16667"/>
            </a:avLst>
          </a:prstGeom>
          <a:solidFill>
            <a:srgbClr val="796de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6" name="TextBox 2"/>
          <p:cNvSpPr/>
          <p:nvPr/>
        </p:nvSpPr>
        <p:spPr>
          <a:xfrm>
            <a:off x="777240" y="384120"/>
            <a:ext cx="1005696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1" lang="en-US" sz="2900" spc="-1" strike="noStrike">
                <a:solidFill>
                  <a:srgbClr val="252936"/>
                </a:solidFill>
                <a:latin typeface="Aptos"/>
              </a:rPr>
              <a:t>Следующий этап — пилот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Box 3"/>
          <p:cNvSpPr/>
          <p:nvPr/>
        </p:nvSpPr>
        <p:spPr>
          <a:xfrm>
            <a:off x="777240" y="960120"/>
            <a:ext cx="100569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0" lang="en-US" sz="1400" spc="-1" strike="noStrike">
                <a:solidFill>
                  <a:srgbClr val="687388"/>
                </a:solidFill>
                <a:latin typeface="Aptos"/>
              </a:rPr>
              <a:t>MVP готов для демонстрации; эффект предстоит подтвердить на реальных процессах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Box 4"/>
          <p:cNvSpPr/>
          <p:nvPr/>
        </p:nvSpPr>
        <p:spPr>
          <a:xfrm>
            <a:off x="640080" y="6492240"/>
            <a:ext cx="54849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0" lang="en-US" sz="1000" spc="-1" strike="noStrike">
                <a:solidFill>
                  <a:srgbClr val="687388"/>
                </a:solidFill>
                <a:latin typeface="Aptos"/>
              </a:rPr>
              <a:t>AKIMAT CONTROL   •   MVP 2026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Box 5"/>
          <p:cNvSpPr/>
          <p:nvPr/>
        </p:nvSpPr>
        <p:spPr>
          <a:xfrm>
            <a:off x="11155680" y="6492240"/>
            <a:ext cx="4557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0" lang="en-US" sz="1000" spc="-1" strike="noStrike">
                <a:solidFill>
                  <a:srgbClr val="687388"/>
                </a:solidFill>
                <a:latin typeface="Aptos"/>
              </a:rPr>
              <a:t>08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Rounded Rectangle 6"/>
          <p:cNvSpPr/>
          <p:nvPr/>
        </p:nvSpPr>
        <p:spPr>
          <a:xfrm>
            <a:off x="731520" y="1645920"/>
            <a:ext cx="3537360" cy="3546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1" name="Rounded Rectangle 7"/>
          <p:cNvSpPr/>
          <p:nvPr/>
        </p:nvSpPr>
        <p:spPr>
          <a:xfrm>
            <a:off x="932760" y="1874520"/>
            <a:ext cx="71640" cy="410040"/>
          </a:xfrm>
          <a:prstGeom prst="roundRect">
            <a:avLst>
              <a:gd name="adj" fmla="val 16667"/>
            </a:avLst>
          </a:prstGeom>
          <a:solidFill>
            <a:srgbClr val="796de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2" name="TextBox 8"/>
          <p:cNvSpPr/>
          <p:nvPr/>
        </p:nvSpPr>
        <p:spPr>
          <a:xfrm>
            <a:off x="1170360" y="1847160"/>
            <a:ext cx="289728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1" lang="en-US" sz="1900" spc="-1" strike="noStrike">
                <a:solidFill>
                  <a:srgbClr val="252936"/>
                </a:solidFill>
                <a:latin typeface="Aptos"/>
              </a:rPr>
              <a:t>1. Пилот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Box 9"/>
          <p:cNvSpPr/>
          <p:nvPr/>
        </p:nvSpPr>
        <p:spPr>
          <a:xfrm>
            <a:off x="1024200" y="2487240"/>
            <a:ext cx="2970360" cy="77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0" lang="en-US" sz="1500" spc="-1" strike="noStrike">
                <a:solidFill>
                  <a:srgbClr val="687388"/>
                </a:solidFill>
                <a:latin typeface="Aptos"/>
              </a:rPr>
              <a:t>Тестирование на ограниченном наборе подразделений и поручений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Rounded Rectangle 10"/>
          <p:cNvSpPr/>
          <p:nvPr/>
        </p:nvSpPr>
        <p:spPr>
          <a:xfrm>
            <a:off x="4553640" y="1645920"/>
            <a:ext cx="3537360" cy="3546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5" name="Rounded Rectangle 11"/>
          <p:cNvSpPr/>
          <p:nvPr/>
        </p:nvSpPr>
        <p:spPr>
          <a:xfrm>
            <a:off x="4754880" y="1874520"/>
            <a:ext cx="71640" cy="410040"/>
          </a:xfrm>
          <a:prstGeom prst="roundRect">
            <a:avLst>
              <a:gd name="adj" fmla="val 16667"/>
            </a:avLst>
          </a:prstGeom>
          <a:solidFill>
            <a:srgbClr val="6488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6" name="TextBox 12"/>
          <p:cNvSpPr/>
          <p:nvPr/>
        </p:nvSpPr>
        <p:spPr>
          <a:xfrm>
            <a:off x="4992480" y="1847160"/>
            <a:ext cx="289728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1" lang="en-US" sz="1900" spc="-1" strike="noStrike">
                <a:solidFill>
                  <a:srgbClr val="252936"/>
                </a:solidFill>
                <a:latin typeface="Aptos"/>
              </a:rPr>
              <a:t>2. Измерение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Box 13"/>
          <p:cNvSpPr/>
          <p:nvPr/>
        </p:nvSpPr>
        <p:spPr>
          <a:xfrm>
            <a:off x="4846320" y="2487240"/>
            <a:ext cx="297036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0" lang="en-US" sz="1500" spc="-1" strike="noStrike">
                <a:solidFill>
                  <a:srgbClr val="687388"/>
                </a:solidFill>
                <a:latin typeface="Aptos"/>
              </a:rPr>
              <a:t>Сроки исполнения, время контроля, доля просрочек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Rounded Rectangle 14"/>
          <p:cNvSpPr/>
          <p:nvPr/>
        </p:nvSpPr>
        <p:spPr>
          <a:xfrm>
            <a:off x="8375760" y="1645920"/>
            <a:ext cx="3537360" cy="3546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9" name="Rounded Rectangle 15"/>
          <p:cNvSpPr/>
          <p:nvPr/>
        </p:nvSpPr>
        <p:spPr>
          <a:xfrm>
            <a:off x="8577000" y="1874520"/>
            <a:ext cx="71640" cy="410040"/>
          </a:xfrm>
          <a:prstGeom prst="roundRect">
            <a:avLst>
              <a:gd name="adj" fmla="val 16667"/>
            </a:avLst>
          </a:prstGeom>
          <a:solidFill>
            <a:srgbClr val="b06da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0" name="TextBox 16"/>
          <p:cNvSpPr/>
          <p:nvPr/>
        </p:nvSpPr>
        <p:spPr>
          <a:xfrm>
            <a:off x="8814960" y="1847160"/>
            <a:ext cx="289728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1" lang="en-US" sz="1900" spc="-1" strike="noStrike">
                <a:solidFill>
                  <a:srgbClr val="252936"/>
                </a:solidFill>
                <a:latin typeface="Aptos"/>
              </a:rPr>
              <a:t>3. Масштабирование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Box 17"/>
          <p:cNvSpPr/>
          <p:nvPr/>
        </p:nvSpPr>
        <p:spPr>
          <a:xfrm>
            <a:off x="8668440" y="2487240"/>
            <a:ext cx="2970360" cy="77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0" lang="en-US" sz="1500" spc="-1" strike="noStrike">
                <a:solidFill>
                  <a:srgbClr val="687388"/>
                </a:solidFill>
                <a:latin typeface="Aptos"/>
              </a:rPr>
              <a:t>Регламентные уведомления, документы, интеграции, расширенные роли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Rounded Rectangle 18"/>
          <p:cNvSpPr/>
          <p:nvPr/>
        </p:nvSpPr>
        <p:spPr>
          <a:xfrm>
            <a:off x="914400" y="5504760"/>
            <a:ext cx="10331280" cy="657000"/>
          </a:xfrm>
          <a:prstGeom prst="roundRect">
            <a:avLst>
              <a:gd name="adj" fmla="val 16667"/>
            </a:avLst>
          </a:prstGeom>
          <a:solidFill>
            <a:srgbClr val="edeb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3" name="TextBox 19"/>
          <p:cNvSpPr/>
          <p:nvPr/>
        </p:nvSpPr>
        <p:spPr>
          <a:xfrm>
            <a:off x="1325880" y="5669280"/>
            <a:ext cx="95083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1" lang="en-US" sz="2200" spc="-1" strike="noStrike">
                <a:solidFill>
                  <a:srgbClr val="796de3"/>
                </a:solidFill>
                <a:latin typeface="Aptos"/>
              </a:rPr>
              <a:t>Akimat Control — от поручения до результата.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Application>LibreOffice/24.2.3.2$Linux_X86_64 LibreOffice_project/433d9c2ded56988e8a90e6b2e771ee4e6a5ab2ba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2026-10-12T11:40:33Z</dcterms:modified>
  <cp:revision>14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